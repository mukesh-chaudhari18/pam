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20" roundtripDataSignature="AMtx7mjU7INfhejmxWHUo4xi+U67RWPaA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customschemas.google.com/relationships/presentationmetadata" Target="meta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9" name="Google Shape;89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6" name="Google Shape;96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5" name="Google Shape;105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3" name="Google Shape;113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0" name="Google Shape;120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7" name="Google Shape;127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4" name="Google Shape;134;p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1" name="Google Shape;141;p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8" name="Google Shape;148;p1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5" name="Google Shape;155;p1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3" name="Google Shape;163;p1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0" name="Google Shape;170;p1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0" name="Google Shape;180;p1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22"/>
          <p:cNvSpPr txBox="1"/>
          <p:nvPr>
            <p:ph type="title"/>
          </p:nvPr>
        </p:nvSpPr>
        <p:spPr>
          <a:xfrm>
            <a:off x="722313" y="3305176"/>
            <a:ext cx="7772400" cy="10215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2"/>
          <p:cNvSpPr txBox="1"/>
          <p:nvPr>
            <p:ph idx="1" type="body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1" name="Google Shape;21;p22"/>
          <p:cNvSpPr txBox="1"/>
          <p:nvPr>
            <p:ph idx="11" type="ftr"/>
          </p:nvPr>
        </p:nvSpPr>
        <p:spPr>
          <a:xfrm>
            <a:off x="3810000" y="4869656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22"/>
          <p:cNvSpPr txBox="1"/>
          <p:nvPr>
            <p:ph idx="12" type="sldNum"/>
          </p:nvPr>
        </p:nvSpPr>
        <p:spPr>
          <a:xfrm>
            <a:off x="8610600" y="4850606"/>
            <a:ext cx="3810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3"/>
          <p:cNvSpPr txBox="1"/>
          <p:nvPr>
            <p:ph type="title"/>
          </p:nvPr>
        </p:nvSpPr>
        <p:spPr>
          <a:xfrm>
            <a:off x="457200" y="133350"/>
            <a:ext cx="5029200" cy="46077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3"/>
          <p:cNvSpPr txBox="1"/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" name="Google Shape;26;p23"/>
          <p:cNvSpPr txBox="1"/>
          <p:nvPr>
            <p:ph idx="12" type="sldNum"/>
          </p:nvPr>
        </p:nvSpPr>
        <p:spPr>
          <a:xfrm>
            <a:off x="8458200" y="4850606"/>
            <a:ext cx="533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7" name="Google Shape;27;p23"/>
          <p:cNvSpPr/>
          <p:nvPr/>
        </p:nvSpPr>
        <p:spPr>
          <a:xfrm>
            <a:off x="0" y="666750"/>
            <a:ext cx="9144000" cy="45719"/>
          </a:xfrm>
          <a:prstGeom prst="rect">
            <a:avLst/>
          </a:prstGeom>
          <a:solidFill>
            <a:srgbClr val="E36C0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" name="Google Shape;28;p2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934200" y="116292"/>
            <a:ext cx="1981200" cy="512569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29;p23"/>
          <p:cNvSpPr txBox="1"/>
          <p:nvPr>
            <p:ph idx="11" type="ftr"/>
          </p:nvPr>
        </p:nvSpPr>
        <p:spPr>
          <a:xfrm>
            <a:off x="3810000" y="4869656"/>
            <a:ext cx="41148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4"/>
          <p:cNvSpPr txBox="1"/>
          <p:nvPr>
            <p:ph type="ctrTitle"/>
          </p:nvPr>
        </p:nvSpPr>
        <p:spPr>
          <a:xfrm>
            <a:off x="685800" y="1597819"/>
            <a:ext cx="7772400" cy="110251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4"/>
          <p:cNvSpPr txBox="1"/>
          <p:nvPr>
            <p:ph idx="1" type="subTitle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3" name="Google Shape;33;p24"/>
          <p:cNvSpPr txBox="1"/>
          <p:nvPr>
            <p:ph idx="12" type="sldNum"/>
          </p:nvPr>
        </p:nvSpPr>
        <p:spPr>
          <a:xfrm>
            <a:off x="8610600" y="4850606"/>
            <a:ext cx="3810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4" name="Google Shape;34;p24"/>
          <p:cNvSpPr txBox="1"/>
          <p:nvPr>
            <p:ph idx="11" type="ftr"/>
          </p:nvPr>
        </p:nvSpPr>
        <p:spPr>
          <a:xfrm>
            <a:off x="3810000" y="4869656"/>
            <a:ext cx="41148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5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25"/>
          <p:cNvSpPr txBox="1"/>
          <p:nvPr>
            <p:ph idx="1" type="body"/>
          </p:nvPr>
        </p:nvSpPr>
        <p:spPr>
          <a:xfrm>
            <a:off x="457200" y="1200151"/>
            <a:ext cx="4038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8" name="Google Shape;38;p25"/>
          <p:cNvSpPr txBox="1"/>
          <p:nvPr>
            <p:ph idx="2" type="body"/>
          </p:nvPr>
        </p:nvSpPr>
        <p:spPr>
          <a:xfrm>
            <a:off x="4648200" y="1200151"/>
            <a:ext cx="4038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9" name="Google Shape;39;p25"/>
          <p:cNvSpPr txBox="1"/>
          <p:nvPr>
            <p:ph idx="11" type="ftr"/>
          </p:nvPr>
        </p:nvSpPr>
        <p:spPr>
          <a:xfrm>
            <a:off x="3810000" y="4869656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25"/>
          <p:cNvSpPr txBox="1"/>
          <p:nvPr>
            <p:ph idx="12" type="sldNum"/>
          </p:nvPr>
        </p:nvSpPr>
        <p:spPr>
          <a:xfrm>
            <a:off x="8610600" y="4850606"/>
            <a:ext cx="3810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6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6"/>
          <p:cNvSpPr txBox="1"/>
          <p:nvPr>
            <p:ph idx="1" type="body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4" name="Google Shape;44;p26"/>
          <p:cNvSpPr txBox="1"/>
          <p:nvPr>
            <p:ph idx="2" type="body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5" name="Google Shape;45;p26"/>
          <p:cNvSpPr txBox="1"/>
          <p:nvPr>
            <p:ph idx="3" type="body"/>
          </p:nvPr>
        </p:nvSpPr>
        <p:spPr>
          <a:xfrm>
            <a:off x="4645026" y="1151335"/>
            <a:ext cx="4041775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6" name="Google Shape;46;p26"/>
          <p:cNvSpPr txBox="1"/>
          <p:nvPr>
            <p:ph idx="4" type="body"/>
          </p:nvPr>
        </p:nvSpPr>
        <p:spPr>
          <a:xfrm>
            <a:off x="4645026" y="1631156"/>
            <a:ext cx="4041775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7" name="Google Shape;47;p26"/>
          <p:cNvSpPr txBox="1"/>
          <p:nvPr>
            <p:ph idx="11" type="ftr"/>
          </p:nvPr>
        </p:nvSpPr>
        <p:spPr>
          <a:xfrm>
            <a:off x="3810000" y="4869656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6"/>
          <p:cNvSpPr txBox="1"/>
          <p:nvPr>
            <p:ph idx="12" type="sldNum"/>
          </p:nvPr>
        </p:nvSpPr>
        <p:spPr>
          <a:xfrm>
            <a:off x="8610600" y="4850606"/>
            <a:ext cx="3810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7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7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2" name="Google Shape;52;p27"/>
          <p:cNvSpPr txBox="1"/>
          <p:nvPr>
            <p:ph idx="11" type="ftr"/>
          </p:nvPr>
        </p:nvSpPr>
        <p:spPr>
          <a:xfrm>
            <a:off x="3810000" y="4869656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7"/>
          <p:cNvSpPr txBox="1"/>
          <p:nvPr>
            <p:ph idx="12" type="sldNum"/>
          </p:nvPr>
        </p:nvSpPr>
        <p:spPr>
          <a:xfrm>
            <a:off x="8610600" y="4850606"/>
            <a:ext cx="3810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8"/>
          <p:cNvSpPr txBox="1"/>
          <p:nvPr>
            <p:ph idx="11" type="ftr"/>
          </p:nvPr>
        </p:nvSpPr>
        <p:spPr>
          <a:xfrm>
            <a:off x="3810000" y="4869656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8"/>
          <p:cNvSpPr txBox="1"/>
          <p:nvPr>
            <p:ph idx="12" type="sldNum"/>
          </p:nvPr>
        </p:nvSpPr>
        <p:spPr>
          <a:xfrm>
            <a:off x="8610600" y="4850606"/>
            <a:ext cx="3810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29"/>
          <p:cNvSpPr txBox="1"/>
          <p:nvPr>
            <p:ph type="title"/>
          </p:nvPr>
        </p:nvSpPr>
        <p:spPr>
          <a:xfrm>
            <a:off x="457201" y="204787"/>
            <a:ext cx="3008313" cy="8715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9"/>
          <p:cNvSpPr txBox="1"/>
          <p:nvPr>
            <p:ph idx="1" type="body"/>
          </p:nvPr>
        </p:nvSpPr>
        <p:spPr>
          <a:xfrm>
            <a:off x="3575050" y="204788"/>
            <a:ext cx="5111750" cy="43898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0" name="Google Shape;60;p29"/>
          <p:cNvSpPr txBox="1"/>
          <p:nvPr>
            <p:ph idx="2" type="body"/>
          </p:nvPr>
        </p:nvSpPr>
        <p:spPr>
          <a:xfrm>
            <a:off x="457201" y="1076326"/>
            <a:ext cx="3008313" cy="35182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1" name="Google Shape;61;p29"/>
          <p:cNvSpPr txBox="1"/>
          <p:nvPr>
            <p:ph idx="11" type="ftr"/>
          </p:nvPr>
        </p:nvSpPr>
        <p:spPr>
          <a:xfrm>
            <a:off x="3810000" y="4869656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29"/>
          <p:cNvSpPr txBox="1"/>
          <p:nvPr>
            <p:ph idx="12" type="sldNum"/>
          </p:nvPr>
        </p:nvSpPr>
        <p:spPr>
          <a:xfrm>
            <a:off x="8610600" y="4850606"/>
            <a:ext cx="3810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30"/>
          <p:cNvSpPr txBox="1"/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30"/>
          <p:cNvSpPr/>
          <p:nvPr>
            <p:ph idx="2" type="pic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  <a:noFill/>
          <a:ln>
            <a:noFill/>
          </a:ln>
        </p:spPr>
      </p:sp>
      <p:sp>
        <p:nvSpPr>
          <p:cNvPr id="66" name="Google Shape;66;p30"/>
          <p:cNvSpPr txBox="1"/>
          <p:nvPr>
            <p:ph idx="1" type="body"/>
          </p:nvPr>
        </p:nvSpPr>
        <p:spPr>
          <a:xfrm>
            <a:off x="1792288" y="4025503"/>
            <a:ext cx="5486400" cy="6036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7" name="Google Shape;67;p30"/>
          <p:cNvSpPr txBox="1"/>
          <p:nvPr>
            <p:ph idx="11" type="ftr"/>
          </p:nvPr>
        </p:nvSpPr>
        <p:spPr>
          <a:xfrm>
            <a:off x="3810000" y="4869656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30"/>
          <p:cNvSpPr txBox="1"/>
          <p:nvPr>
            <p:ph idx="12" type="sldNum"/>
          </p:nvPr>
        </p:nvSpPr>
        <p:spPr>
          <a:xfrm>
            <a:off x="8610600" y="4850606"/>
            <a:ext cx="3810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31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31"/>
          <p:cNvSpPr txBox="1"/>
          <p:nvPr>
            <p:ph idx="1" type="body"/>
          </p:nvPr>
        </p:nvSpPr>
        <p:spPr>
          <a:xfrm rot="5400000">
            <a:off x="2874764" y="-1217413"/>
            <a:ext cx="3394472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2" name="Google Shape;72;p31"/>
          <p:cNvSpPr txBox="1"/>
          <p:nvPr>
            <p:ph idx="11" type="ftr"/>
          </p:nvPr>
        </p:nvSpPr>
        <p:spPr>
          <a:xfrm>
            <a:off x="3810000" y="4869656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31"/>
          <p:cNvSpPr txBox="1"/>
          <p:nvPr>
            <p:ph idx="12" type="sldNum"/>
          </p:nvPr>
        </p:nvSpPr>
        <p:spPr>
          <a:xfrm>
            <a:off x="8610600" y="4850606"/>
            <a:ext cx="3810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2"/>
          <p:cNvSpPr txBox="1"/>
          <p:nvPr>
            <p:ph type="title"/>
          </p:nvPr>
        </p:nvSpPr>
        <p:spPr>
          <a:xfrm rot="5400000">
            <a:off x="5463778" y="1371601"/>
            <a:ext cx="4388644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2"/>
          <p:cNvSpPr txBox="1"/>
          <p:nvPr>
            <p:ph idx="1" type="body"/>
          </p:nvPr>
        </p:nvSpPr>
        <p:spPr>
          <a:xfrm rot="5400000">
            <a:off x="1272778" y="-609599"/>
            <a:ext cx="4388644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32"/>
          <p:cNvSpPr txBox="1"/>
          <p:nvPr>
            <p:ph idx="11" type="ftr"/>
          </p:nvPr>
        </p:nvSpPr>
        <p:spPr>
          <a:xfrm>
            <a:off x="3810000" y="4869656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32"/>
          <p:cNvSpPr txBox="1"/>
          <p:nvPr>
            <p:ph idx="12" type="sldNum"/>
          </p:nvPr>
        </p:nvSpPr>
        <p:spPr>
          <a:xfrm>
            <a:off x="8610600" y="4850606"/>
            <a:ext cx="3810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and Content">
  <p:cSld name="1_Title and Content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9.xml"/><Relationship Id="rId10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0.xml"/><Relationship Id="rId1" Type="http://schemas.openxmlformats.org/officeDocument/2006/relationships/image" Target="../media/image2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9" Type="http://schemas.openxmlformats.org/officeDocument/2006/relationships/slideLayout" Target="../slideLayouts/slideLayout7.xml"/><Relationship Id="rId15" Type="http://schemas.openxmlformats.org/officeDocument/2006/relationships/theme" Target="../theme/theme2.xml"/><Relationship Id="rId14" Type="http://schemas.openxmlformats.org/officeDocument/2006/relationships/slideLayout" Target="../slideLayouts/slideLayout12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1"/>
          <p:cNvSpPr/>
          <p:nvPr/>
        </p:nvSpPr>
        <p:spPr>
          <a:xfrm>
            <a:off x="0" y="4888706"/>
            <a:ext cx="9144000" cy="254794"/>
          </a:xfrm>
          <a:prstGeom prst="rect">
            <a:avLst/>
          </a:prstGeom>
          <a:solidFill>
            <a:srgbClr val="538CD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Google Shape;11;p21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21"/>
          <p:cNvSpPr txBox="1"/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21"/>
          <p:cNvSpPr txBox="1"/>
          <p:nvPr>
            <p:ph idx="12" type="sldNum"/>
          </p:nvPr>
        </p:nvSpPr>
        <p:spPr>
          <a:xfrm>
            <a:off x="8610600" y="4850606"/>
            <a:ext cx="3810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" name="Google Shape;14;p21"/>
          <p:cNvSpPr txBox="1"/>
          <p:nvPr/>
        </p:nvSpPr>
        <p:spPr>
          <a:xfrm>
            <a:off x="0" y="4869656"/>
            <a:ext cx="3886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1" lang="en-US" sz="1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© 2025  Skillogic ®</a:t>
            </a:r>
            <a:r>
              <a:rPr lang="en-US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en-US" sz="1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DataMites™. All Rights Reserved </a:t>
            </a:r>
            <a:endParaRPr b="1" sz="1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15;p21"/>
          <p:cNvSpPr txBox="1"/>
          <p:nvPr>
            <p:ph idx="11" type="ftr"/>
          </p:nvPr>
        </p:nvSpPr>
        <p:spPr>
          <a:xfrm>
            <a:off x="3810000" y="4869656"/>
            <a:ext cx="41148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descr="Logo&#10;&#10;Description automatically generated with medium confidence" id="16" name="Google Shape;16;p2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161225" y="4461024"/>
            <a:ext cx="1492200" cy="363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&#10;&#10;Description automatically generated" id="17" name="Google Shape;17;p2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812461" y="4547049"/>
            <a:ext cx="1246906" cy="322596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3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type="title"/>
          </p:nvPr>
        </p:nvSpPr>
        <p:spPr>
          <a:xfrm>
            <a:off x="26019" y="1931744"/>
            <a:ext cx="9091961" cy="12800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cap="none"/>
              <a:t>Support Vector Machin</a:t>
            </a:r>
            <a:r>
              <a:rPr lang="en-US"/>
              <a:t>e</a:t>
            </a:r>
            <a:endParaRPr b="0" cap="none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"/>
          <p:cNvSpPr txBox="1"/>
          <p:nvPr/>
        </p:nvSpPr>
        <p:spPr>
          <a:xfrm>
            <a:off x="2053350" y="4686975"/>
            <a:ext cx="76071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/>
              <a:t>© DataMites® and Skillogic</a:t>
            </a:r>
            <a:r>
              <a:rPr lang="en-US" sz="900">
                <a:solidFill>
                  <a:srgbClr val="000000"/>
                </a:solidFill>
              </a:rPr>
              <a:t>®</a:t>
            </a:r>
            <a:r>
              <a:rPr lang="en-US" sz="900"/>
              <a:t> are part of Skillfloor Solutions Private Limited. All rights reserved</a:t>
            </a:r>
            <a:endParaRPr sz="900"/>
          </a:p>
        </p:txBody>
      </p:sp>
      <p:sp>
        <p:nvSpPr>
          <p:cNvPr id="86" name="Google Shape;86;p1"/>
          <p:cNvSpPr txBox="1"/>
          <p:nvPr/>
        </p:nvSpPr>
        <p:spPr>
          <a:xfrm>
            <a:off x="1429225" y="2683225"/>
            <a:ext cx="6177600" cy="9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Supervised Machine Learning</a:t>
            </a:r>
            <a:endParaRPr sz="2600">
              <a:solidFill>
                <a:srgbClr val="66666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Calibri"/>
              <a:buNone/>
            </a:pPr>
            <a:r>
              <a:rPr lang="en-US" sz="26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Regression/Classification Algorithm</a:t>
            </a:r>
            <a:endParaRPr sz="2600">
              <a:solidFill>
                <a:srgbClr val="66666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"/>
          <p:cNvSpPr txBox="1"/>
          <p:nvPr>
            <p:ph type="title"/>
          </p:nvPr>
        </p:nvSpPr>
        <p:spPr>
          <a:xfrm>
            <a:off x="457200" y="133350"/>
            <a:ext cx="5029200" cy="46077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n-US"/>
              <a:t>Course Topics</a:t>
            </a:r>
            <a:endParaRPr/>
          </a:p>
        </p:txBody>
      </p:sp>
      <p:sp>
        <p:nvSpPr>
          <p:cNvPr id="92" name="Google Shape;92;p2"/>
          <p:cNvSpPr txBox="1"/>
          <p:nvPr>
            <p:ph idx="1" type="body"/>
          </p:nvPr>
        </p:nvSpPr>
        <p:spPr>
          <a:xfrm>
            <a:off x="457200" y="1123950"/>
            <a:ext cx="85344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✔"/>
            </a:pPr>
            <a:r>
              <a:rPr lang="en-US" sz="2400"/>
              <a:t>What is Support Vector Machine?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✔"/>
            </a:pPr>
            <a:r>
              <a:rPr lang="en-US" sz="2400"/>
              <a:t>How SVM works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✔"/>
            </a:pPr>
            <a:r>
              <a:rPr lang="en-US" sz="2400"/>
              <a:t>Pros and Cons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✔"/>
            </a:pPr>
            <a:r>
              <a:rPr lang="en-US" sz="2400"/>
              <a:t>Applications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✔"/>
            </a:pPr>
            <a:r>
              <a:rPr lang="en-US" sz="2400"/>
              <a:t>Optimizing model performance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✔"/>
            </a:pPr>
            <a:r>
              <a:rPr lang="en-US" sz="2400"/>
              <a:t>Modeling Support Vector Machine</a:t>
            </a:r>
            <a:endParaRPr sz="2400"/>
          </a:p>
        </p:txBody>
      </p:sp>
      <p:sp>
        <p:nvSpPr>
          <p:cNvPr id="93" name="Google Shape;93;p2"/>
          <p:cNvSpPr txBox="1"/>
          <p:nvPr/>
        </p:nvSpPr>
        <p:spPr>
          <a:xfrm>
            <a:off x="6740912" y="117871"/>
            <a:ext cx="2159620" cy="491728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"/>
          <p:cNvSpPr txBox="1"/>
          <p:nvPr>
            <p:ph type="title"/>
          </p:nvPr>
        </p:nvSpPr>
        <p:spPr>
          <a:xfrm>
            <a:off x="457200" y="133350"/>
            <a:ext cx="6096000" cy="46077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n-US"/>
              <a:t>What is Support Vector Machine ?</a:t>
            </a:r>
            <a:endParaRPr/>
          </a:p>
        </p:txBody>
      </p:sp>
      <p:sp>
        <p:nvSpPr>
          <p:cNvPr id="99" name="Google Shape;99;p3"/>
          <p:cNvSpPr txBox="1"/>
          <p:nvPr>
            <p:ph idx="1" type="body"/>
          </p:nvPr>
        </p:nvSpPr>
        <p:spPr>
          <a:xfrm>
            <a:off x="228600" y="895350"/>
            <a:ext cx="6016083" cy="36992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600"/>
              <a:t>Support Vector Machine” (SVM) is a supervised machine learning algorithm which can be used for both classification or regression challenges. However,  it is mostly used in classification problems.</a:t>
            </a:r>
            <a:endParaRPr/>
          </a:p>
          <a:p>
            <a:pPr indent="-228600" lvl="0" marL="3429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1600"/>
          </a:p>
          <a:p>
            <a:pPr indent="-342900" lvl="0" marL="3429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600"/>
              <a:t>It use for Linearly separable data and Non-Linearly separable data.</a:t>
            </a:r>
            <a:endParaRPr/>
          </a:p>
          <a:p>
            <a:pPr indent="-228600" lvl="0" marL="3429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1600"/>
          </a:p>
          <a:p>
            <a:pPr indent="-342900" lvl="0" marL="3429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600"/>
              <a:t>SVM is a Non - </a:t>
            </a:r>
            <a:r>
              <a:rPr lang="en-US" sz="1600"/>
              <a:t>probabilistic</a:t>
            </a:r>
            <a:r>
              <a:rPr lang="en-US" sz="1600"/>
              <a:t> classifier.</a:t>
            </a:r>
            <a:endParaRPr/>
          </a:p>
          <a:p>
            <a:pPr indent="-228600" lvl="0" marL="3429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1600"/>
          </a:p>
          <a:p>
            <a:pPr indent="-342900" lvl="0" marL="3429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600"/>
              <a:t>SVM uses marginal distance unlike Logistic Regression or KNN.</a:t>
            </a:r>
            <a:endParaRPr/>
          </a:p>
          <a:p>
            <a:pPr indent="-228600" lvl="0" marL="3429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1800"/>
          </a:p>
          <a:p>
            <a:pPr indent="-228600" lvl="0" marL="342900" rtl="0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1800"/>
          </a:p>
        </p:txBody>
      </p:sp>
      <p:pic>
        <p:nvPicPr>
          <p:cNvPr id="100" name="Google Shape;100;p3"/>
          <p:cNvPicPr preferRelativeResize="0"/>
          <p:nvPr/>
        </p:nvPicPr>
        <p:blipFill rotWithShape="1">
          <a:blip r:embed="rId3">
            <a:alphaModFix/>
          </a:blip>
          <a:srcRect b="0" l="0" r="46374" t="0"/>
          <a:stretch/>
        </p:blipFill>
        <p:spPr>
          <a:xfrm>
            <a:off x="6868222" y="724364"/>
            <a:ext cx="2186568" cy="204113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3"/>
          <p:cNvPicPr preferRelativeResize="0"/>
          <p:nvPr/>
        </p:nvPicPr>
        <p:blipFill rotWithShape="1">
          <a:blip r:embed="rId3">
            <a:alphaModFix/>
          </a:blip>
          <a:srcRect b="0" l="52081" r="0" t="0"/>
          <a:stretch/>
        </p:blipFill>
        <p:spPr>
          <a:xfrm>
            <a:off x="6980664" y="2706029"/>
            <a:ext cx="2118732" cy="2163621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3"/>
          <p:cNvSpPr txBox="1"/>
          <p:nvPr/>
        </p:nvSpPr>
        <p:spPr>
          <a:xfrm>
            <a:off x="6740912" y="117871"/>
            <a:ext cx="2159620" cy="491728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"/>
          <p:cNvSpPr txBox="1"/>
          <p:nvPr/>
        </p:nvSpPr>
        <p:spPr>
          <a:xfrm>
            <a:off x="228600" y="80799"/>
            <a:ext cx="65532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How Support Vector Machine works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4"/>
          <p:cNvSpPr txBox="1"/>
          <p:nvPr>
            <p:ph idx="1" type="body"/>
          </p:nvPr>
        </p:nvSpPr>
        <p:spPr>
          <a:xfrm>
            <a:off x="304800" y="971550"/>
            <a:ext cx="8534400" cy="12191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20"/>
              <a:buChar char="•"/>
            </a:pPr>
            <a:r>
              <a:rPr lang="en-US" sz="1800"/>
              <a:t>Support vectors are identified through the data based on the task</a:t>
            </a:r>
            <a:endParaRPr sz="1800"/>
          </a:p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20"/>
              <a:buChar char="•"/>
            </a:pPr>
            <a:r>
              <a:rPr lang="en-US" sz="1800"/>
              <a:t>Marginal lines pass through the support vectors to identify the boundary region </a:t>
            </a:r>
            <a:endParaRPr/>
          </a:p>
          <a:p>
            <a:pPr indent="-20193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20"/>
              <a:buNone/>
            </a:pPr>
            <a:r>
              <a:t/>
            </a:r>
            <a:endParaRPr sz="1800"/>
          </a:p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20"/>
              <a:buChar char="•"/>
            </a:pPr>
            <a:r>
              <a:rPr lang="en-US" sz="1800"/>
              <a:t>SVM maximises the marginal distance between hyperplane and support vectors</a:t>
            </a:r>
            <a:endParaRPr sz="1800"/>
          </a:p>
        </p:txBody>
      </p:sp>
      <p:pic>
        <p:nvPicPr>
          <p:cNvPr id="109" name="Google Shape;109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36038" y="2190749"/>
            <a:ext cx="4064039" cy="2704433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4"/>
          <p:cNvSpPr txBox="1"/>
          <p:nvPr/>
        </p:nvSpPr>
        <p:spPr>
          <a:xfrm>
            <a:off x="6740912" y="117871"/>
            <a:ext cx="2159620" cy="491728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5"/>
          <p:cNvSpPr txBox="1"/>
          <p:nvPr>
            <p:ph type="title"/>
          </p:nvPr>
        </p:nvSpPr>
        <p:spPr>
          <a:xfrm>
            <a:off x="457200" y="133350"/>
            <a:ext cx="5486400" cy="46077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n-US"/>
              <a:t>SVM: Hyperplane splitting Data</a:t>
            </a:r>
            <a:endParaRPr/>
          </a:p>
        </p:txBody>
      </p:sp>
      <p:pic>
        <p:nvPicPr>
          <p:cNvPr id="116" name="Google Shape;116;p5"/>
          <p:cNvPicPr preferRelativeResize="0"/>
          <p:nvPr/>
        </p:nvPicPr>
        <p:blipFill rotWithShape="1">
          <a:blip r:embed="rId3">
            <a:alphaModFix/>
          </a:blip>
          <a:srcRect b="7104" l="5556" r="7778" t="7906"/>
          <a:stretch/>
        </p:blipFill>
        <p:spPr>
          <a:xfrm>
            <a:off x="1371600" y="1123950"/>
            <a:ext cx="5943600" cy="32766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5"/>
          <p:cNvSpPr txBox="1"/>
          <p:nvPr/>
        </p:nvSpPr>
        <p:spPr>
          <a:xfrm>
            <a:off x="6740912" y="117871"/>
            <a:ext cx="2159620" cy="491728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6"/>
          <p:cNvSpPr txBox="1"/>
          <p:nvPr>
            <p:ph type="title"/>
          </p:nvPr>
        </p:nvSpPr>
        <p:spPr>
          <a:xfrm>
            <a:off x="457200" y="133350"/>
            <a:ext cx="5029200" cy="46077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n-US"/>
              <a:t>Marginal Distance </a:t>
            </a:r>
            <a:endParaRPr/>
          </a:p>
        </p:txBody>
      </p:sp>
      <p:pic>
        <p:nvPicPr>
          <p:cNvPr id="123" name="Google Shape;123;p6"/>
          <p:cNvPicPr preferRelativeResize="0"/>
          <p:nvPr/>
        </p:nvPicPr>
        <p:blipFill rotWithShape="1">
          <a:blip r:embed="rId3">
            <a:alphaModFix/>
          </a:blip>
          <a:srcRect b="6515" l="6665" r="7778" t="8493"/>
          <a:stretch/>
        </p:blipFill>
        <p:spPr>
          <a:xfrm>
            <a:off x="1219200" y="1123950"/>
            <a:ext cx="5867400" cy="3276601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6"/>
          <p:cNvSpPr txBox="1"/>
          <p:nvPr/>
        </p:nvSpPr>
        <p:spPr>
          <a:xfrm>
            <a:off x="6740912" y="117871"/>
            <a:ext cx="2159620" cy="491728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Google Shape;129;p7"/>
          <p:cNvPicPr preferRelativeResize="0"/>
          <p:nvPr/>
        </p:nvPicPr>
        <p:blipFill rotWithShape="1">
          <a:blip r:embed="rId3">
            <a:alphaModFix/>
          </a:blip>
          <a:srcRect b="6349" l="6932" r="7733" t="22222"/>
          <a:stretch/>
        </p:blipFill>
        <p:spPr>
          <a:xfrm>
            <a:off x="914400" y="857250"/>
            <a:ext cx="6705600" cy="37719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7"/>
          <p:cNvSpPr txBox="1"/>
          <p:nvPr>
            <p:ph type="title"/>
          </p:nvPr>
        </p:nvSpPr>
        <p:spPr>
          <a:xfrm>
            <a:off x="457200" y="133350"/>
            <a:ext cx="5715000" cy="46077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n-US"/>
              <a:t>SVM Higher Dimensions Visual</a:t>
            </a:r>
            <a:endParaRPr/>
          </a:p>
        </p:txBody>
      </p:sp>
      <p:sp>
        <p:nvSpPr>
          <p:cNvPr id="131" name="Google Shape;131;p7"/>
          <p:cNvSpPr txBox="1"/>
          <p:nvPr/>
        </p:nvSpPr>
        <p:spPr>
          <a:xfrm>
            <a:off x="6740912" y="117871"/>
            <a:ext cx="2159620" cy="491728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1"/>
          <p:cNvSpPr txBox="1"/>
          <p:nvPr>
            <p:ph type="title"/>
          </p:nvPr>
        </p:nvSpPr>
        <p:spPr>
          <a:xfrm>
            <a:off x="457200" y="133350"/>
            <a:ext cx="5029200" cy="46077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n-US"/>
              <a:t>SVM Example: Kernel Trick</a:t>
            </a:r>
            <a:endParaRPr/>
          </a:p>
        </p:txBody>
      </p:sp>
      <p:pic>
        <p:nvPicPr>
          <p:cNvPr id="137" name="Google Shape;137;p11"/>
          <p:cNvPicPr preferRelativeResize="0"/>
          <p:nvPr/>
        </p:nvPicPr>
        <p:blipFill rotWithShape="1">
          <a:blip r:embed="rId3">
            <a:alphaModFix/>
          </a:blip>
          <a:srcRect b="6514" l="6665" r="7778" t="6516"/>
          <a:stretch/>
        </p:blipFill>
        <p:spPr>
          <a:xfrm>
            <a:off x="1066800" y="895350"/>
            <a:ext cx="6667500" cy="3810001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1"/>
          <p:cNvSpPr txBox="1"/>
          <p:nvPr/>
        </p:nvSpPr>
        <p:spPr>
          <a:xfrm>
            <a:off x="6740912" y="117871"/>
            <a:ext cx="2159620" cy="491728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2"/>
          <p:cNvSpPr txBox="1"/>
          <p:nvPr>
            <p:ph type="title"/>
          </p:nvPr>
        </p:nvSpPr>
        <p:spPr>
          <a:xfrm>
            <a:off x="457200" y="133350"/>
            <a:ext cx="5029200" cy="46077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n-US"/>
              <a:t>C Value</a:t>
            </a:r>
            <a:endParaRPr/>
          </a:p>
        </p:txBody>
      </p:sp>
      <p:pic>
        <p:nvPicPr>
          <p:cNvPr id="144" name="Google Shape;144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6655" y="1123950"/>
            <a:ext cx="6883400" cy="3157523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2"/>
          <p:cNvSpPr txBox="1"/>
          <p:nvPr/>
        </p:nvSpPr>
        <p:spPr>
          <a:xfrm>
            <a:off x="6740912" y="117871"/>
            <a:ext cx="2159620" cy="491728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3"/>
          <p:cNvSpPr txBox="1"/>
          <p:nvPr>
            <p:ph type="title"/>
          </p:nvPr>
        </p:nvSpPr>
        <p:spPr>
          <a:xfrm>
            <a:off x="457200" y="133350"/>
            <a:ext cx="5029200" cy="46077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n-US"/>
              <a:t>Gamma and C parameters</a:t>
            </a:r>
            <a:endParaRPr/>
          </a:p>
        </p:txBody>
      </p:sp>
      <p:pic>
        <p:nvPicPr>
          <p:cNvPr id="151" name="Google Shape;151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47800" y="1047750"/>
            <a:ext cx="5334000" cy="373623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3"/>
          <p:cNvSpPr txBox="1"/>
          <p:nvPr/>
        </p:nvSpPr>
        <p:spPr>
          <a:xfrm>
            <a:off x="6740912" y="117871"/>
            <a:ext cx="2159620" cy="491728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4"/>
          <p:cNvSpPr txBox="1"/>
          <p:nvPr>
            <p:ph type="title"/>
          </p:nvPr>
        </p:nvSpPr>
        <p:spPr>
          <a:xfrm>
            <a:off x="152400" y="57150"/>
            <a:ext cx="65532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n-US"/>
              <a:t>Pros of Support Vector Machine </a:t>
            </a:r>
            <a:endParaRPr/>
          </a:p>
        </p:txBody>
      </p:sp>
      <p:sp>
        <p:nvSpPr>
          <p:cNvPr id="158" name="Google Shape;158;p14"/>
          <p:cNvSpPr txBox="1"/>
          <p:nvPr>
            <p:ph idx="1" type="body"/>
          </p:nvPr>
        </p:nvSpPr>
        <p:spPr>
          <a:xfrm>
            <a:off x="457200" y="895350"/>
            <a:ext cx="8229600" cy="2063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Very good at dealing with higher dimensional data</a:t>
            </a:r>
            <a:endParaRPr/>
          </a:p>
          <a:p>
            <a:pPr indent="-342900" lvl="0" marL="34290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Works well with smaller data set</a:t>
            </a:r>
            <a:endParaRPr/>
          </a:p>
          <a:p>
            <a:pPr indent="-342900" lvl="0" marL="34290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Useful for both Linearly Separable (hard margin) and Non-linearly Separable (soft margin) data</a:t>
            </a:r>
            <a:endParaRPr/>
          </a:p>
          <a:p>
            <a:pPr indent="-190500" lvl="0" marL="34290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-190500" lvl="0" marL="34290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</p:txBody>
      </p:sp>
      <p:pic>
        <p:nvPicPr>
          <p:cNvPr id="159" name="Google Shape;159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03015" y="2958790"/>
            <a:ext cx="5932597" cy="1844713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4"/>
          <p:cNvSpPr txBox="1"/>
          <p:nvPr/>
        </p:nvSpPr>
        <p:spPr>
          <a:xfrm>
            <a:off x="6740912" y="117871"/>
            <a:ext cx="2159620" cy="491728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5"/>
          <p:cNvSpPr txBox="1"/>
          <p:nvPr>
            <p:ph type="title"/>
          </p:nvPr>
        </p:nvSpPr>
        <p:spPr>
          <a:xfrm>
            <a:off x="152400" y="57150"/>
            <a:ext cx="65532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n-US"/>
              <a:t>Cons of Support Vector Machine </a:t>
            </a:r>
            <a:endParaRPr/>
          </a:p>
        </p:txBody>
      </p:sp>
      <p:sp>
        <p:nvSpPr>
          <p:cNvPr id="166" name="Google Shape;166;p15"/>
          <p:cNvSpPr txBox="1"/>
          <p:nvPr>
            <p:ph idx="1" type="body"/>
          </p:nvPr>
        </p:nvSpPr>
        <p:spPr>
          <a:xfrm>
            <a:off x="457200" y="819150"/>
            <a:ext cx="8229600" cy="37754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Picking right kernel and parameters can be computationally intensive.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1176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In Natural Language Processing, structured representations of text yield better performances. Sadly, SVMs can not accommodate such structures (word embeddings). </a:t>
            </a:r>
            <a:endParaRPr/>
          </a:p>
          <a:p>
            <a:pPr indent="-190500" lvl="0" marL="342900" rtl="0" algn="l">
              <a:lnSpc>
                <a:spcPct val="100000"/>
              </a:lnSpc>
              <a:spcBef>
                <a:spcPts val="1176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</p:txBody>
      </p:sp>
      <p:sp>
        <p:nvSpPr>
          <p:cNvPr id="167" name="Google Shape;167;p15"/>
          <p:cNvSpPr txBox="1"/>
          <p:nvPr/>
        </p:nvSpPr>
        <p:spPr>
          <a:xfrm>
            <a:off x="6740912" y="117871"/>
            <a:ext cx="2159620" cy="491728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6"/>
          <p:cNvSpPr txBox="1"/>
          <p:nvPr>
            <p:ph type="title"/>
          </p:nvPr>
        </p:nvSpPr>
        <p:spPr>
          <a:xfrm>
            <a:off x="152400" y="57150"/>
            <a:ext cx="70104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US" sz="2800"/>
              <a:t>Applications of  Support Vector Machine </a:t>
            </a:r>
            <a:endParaRPr/>
          </a:p>
        </p:txBody>
      </p:sp>
      <p:pic>
        <p:nvPicPr>
          <p:cNvPr descr="application" id="173" name="Google Shape;173;p16"/>
          <p:cNvPicPr preferRelativeResize="0"/>
          <p:nvPr/>
        </p:nvPicPr>
        <p:blipFill rotWithShape="1">
          <a:blip r:embed="rId3">
            <a:alphaModFix/>
          </a:blip>
          <a:srcRect b="10093" l="0" r="23988" t="0"/>
          <a:stretch/>
        </p:blipFill>
        <p:spPr>
          <a:xfrm>
            <a:off x="1442223" y="716382"/>
            <a:ext cx="6081133" cy="3710735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16"/>
          <p:cNvSpPr/>
          <p:nvPr/>
        </p:nvSpPr>
        <p:spPr>
          <a:xfrm>
            <a:off x="2018371" y="3568390"/>
            <a:ext cx="1345580" cy="572430"/>
          </a:xfrm>
          <a:prstGeom prst="roundRect">
            <a:avLst>
              <a:gd fmla="val 16667" name="adj"/>
            </a:avLst>
          </a:prstGeom>
          <a:solidFill>
            <a:schemeClr val="accent2"/>
          </a:solidFill>
          <a:ln cap="flat" cmpd="sng" w="25400">
            <a:solidFill>
              <a:srgbClr val="5121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Face Detection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16"/>
          <p:cNvSpPr/>
          <p:nvPr/>
        </p:nvSpPr>
        <p:spPr>
          <a:xfrm>
            <a:off x="3899210" y="3568390"/>
            <a:ext cx="1345580" cy="572430"/>
          </a:xfrm>
          <a:prstGeom prst="roundRect">
            <a:avLst>
              <a:gd fmla="val 16667" name="adj"/>
            </a:avLst>
          </a:prstGeom>
          <a:solidFill>
            <a:schemeClr val="accent2"/>
          </a:solidFill>
          <a:ln cap="flat" cmpd="sng" w="25400">
            <a:solidFill>
              <a:srgbClr val="5121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Text Categorization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16"/>
          <p:cNvSpPr/>
          <p:nvPr/>
        </p:nvSpPr>
        <p:spPr>
          <a:xfrm>
            <a:off x="5817220" y="3568390"/>
            <a:ext cx="1345580" cy="572430"/>
          </a:xfrm>
          <a:prstGeom prst="roundRect">
            <a:avLst>
              <a:gd fmla="val 16667" name="adj"/>
            </a:avLst>
          </a:prstGeom>
          <a:solidFill>
            <a:schemeClr val="accent2"/>
          </a:solidFill>
          <a:ln cap="flat" cmpd="sng" w="25400">
            <a:solidFill>
              <a:srgbClr val="5121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Image Classification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16"/>
          <p:cNvSpPr txBox="1"/>
          <p:nvPr/>
        </p:nvSpPr>
        <p:spPr>
          <a:xfrm>
            <a:off x="6740912" y="117871"/>
            <a:ext cx="2159620" cy="491728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8"/>
          <p:cNvSpPr txBox="1"/>
          <p:nvPr>
            <p:ph type="title"/>
          </p:nvPr>
        </p:nvSpPr>
        <p:spPr>
          <a:xfrm>
            <a:off x="152400" y="57150"/>
            <a:ext cx="65532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n-US"/>
              <a:t>Modeling Support Vector Machine </a:t>
            </a:r>
            <a:endParaRPr/>
          </a:p>
        </p:txBody>
      </p:sp>
      <p:sp>
        <p:nvSpPr>
          <p:cNvPr id="183" name="Google Shape;183;p18"/>
          <p:cNvSpPr txBox="1"/>
          <p:nvPr>
            <p:ph idx="1" type="body"/>
          </p:nvPr>
        </p:nvSpPr>
        <p:spPr>
          <a:xfrm>
            <a:off x="457200" y="1200151"/>
            <a:ext cx="8229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0" lvl="0" marL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0" lvl="0" marL="0" rtl="0" algn="ctr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</a:pPr>
            <a:r>
              <a:rPr lang="en-US" sz="2400"/>
              <a:t>Support Vector Classifier in action</a:t>
            </a:r>
            <a:endParaRPr sz="2400"/>
          </a:p>
          <a:p>
            <a:pPr indent="0" lvl="0" marL="0" rtl="0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</p:txBody>
      </p:sp>
      <p:sp>
        <p:nvSpPr>
          <p:cNvPr id="184" name="Google Shape;184;p18"/>
          <p:cNvSpPr txBox="1"/>
          <p:nvPr/>
        </p:nvSpPr>
        <p:spPr>
          <a:xfrm>
            <a:off x="6740912" y="117871"/>
            <a:ext cx="2159620" cy="491728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>Ashok HOME</dc:creator>
</cp:coreProperties>
</file>