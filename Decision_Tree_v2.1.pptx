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T8KCWPPCzoOLAu9sdiMWyPIaA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458200" y="4850606"/>
            <a:ext cx="533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17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34200" y="116292"/>
            <a:ext cx="1981200" cy="51256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9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23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23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4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24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5"/>
          <p:cNvSpPr txBox="1"/>
          <p:nvPr/>
        </p:nvSpPr>
        <p:spPr>
          <a:xfrm>
            <a:off x="0" y="4869656"/>
            <a:ext cx="3886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2025  Skillogic ®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DataMites™. All Rights Reserved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Logo&#10;&#10;Description automatically generated with medium confidence" id="16" name="Google Shape;16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61225" y="4461024"/>
            <a:ext cx="1492200" cy="36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7" name="Google Shape;1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2461" y="4547049"/>
            <a:ext cx="1246906" cy="32259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>
            <p:ph type="title"/>
          </p:nvPr>
        </p:nvSpPr>
        <p:spPr>
          <a:xfrm>
            <a:off x="0" y="1931744"/>
            <a:ext cx="9144000" cy="128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cap="none"/>
              <a:t>Decision Tree</a:t>
            </a:r>
            <a:endParaRPr b="0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2053350" y="4686975"/>
            <a:ext cx="76071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© DataMites® and Skillogic</a:t>
            </a:r>
            <a:r>
              <a:rPr lang="en-US" sz="900">
                <a:solidFill>
                  <a:srgbClr val="000000"/>
                </a:solidFill>
              </a:rPr>
              <a:t>®</a:t>
            </a:r>
            <a:r>
              <a:rPr lang="en-US" sz="900"/>
              <a:t> are part of Skillfloor Solutions Private Limited. All rights reserved</a:t>
            </a:r>
            <a:endParaRPr sz="900"/>
          </a:p>
        </p:txBody>
      </p:sp>
      <p:sp>
        <p:nvSpPr>
          <p:cNvPr id="85" name="Google Shape;85;p1"/>
          <p:cNvSpPr txBox="1"/>
          <p:nvPr/>
        </p:nvSpPr>
        <p:spPr>
          <a:xfrm>
            <a:off x="1429225" y="2683225"/>
            <a:ext cx="61776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Supervised Machine Learning</a:t>
            </a:r>
            <a:endParaRPr sz="2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26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Classification/Regression Algorithm</a:t>
            </a:r>
            <a:endParaRPr sz="26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Course Topics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123950"/>
            <a:ext cx="85344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What is Decision Tree 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Decision Tree Terminology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Char char="✔"/>
            </a:pPr>
            <a:r>
              <a:rPr lang="en-US" sz="2400"/>
              <a:t>How Decision Tree works?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Entropy and information gain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Pros and Cons of Decision Tree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Applications of Decision Tree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Optimizing Decision Tree model performance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Modeling Decision Tree with Python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92" name="Google Shape;92;p2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9288" y="2358282"/>
            <a:ext cx="2854712" cy="251136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What is Decision Tree ?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228600" y="895350"/>
            <a:ext cx="6432395" cy="369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/>
              <a:t>Decision tree is a supervised machine learning algorithms.</a:t>
            </a:r>
            <a:endParaRPr/>
          </a:p>
          <a:p>
            <a:pPr indent="-2032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/>
              <a:t>It is use for both classification and regression problem.</a:t>
            </a:r>
            <a:endParaRPr/>
          </a:p>
          <a:p>
            <a:pPr indent="-2032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/>
              <a:t>Decision tree work on simple nested if else statement condition.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Types of Decision Trees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457200" y="971550"/>
            <a:ext cx="8229600" cy="3623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Types of decision tree is based on the type of target variable we have. It can be of two types: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Categorical Variable Decision Tree: </a:t>
            </a:r>
            <a:r>
              <a:rPr lang="en-US" sz="2000"/>
              <a:t>Decision Tree which has a categorical variable as target. 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Continuous Variable Decision Tree: </a:t>
            </a:r>
            <a:r>
              <a:rPr lang="en-US" sz="2000"/>
              <a:t>Decision Tree which has a continuous variable as target.</a:t>
            </a:r>
            <a:br>
              <a:rPr lang="en-US" sz="2000"/>
            </a:br>
            <a:endParaRPr sz="2000"/>
          </a:p>
        </p:txBody>
      </p:sp>
      <p:sp>
        <p:nvSpPr>
          <p:cNvPr id="107" name="Google Shape;107;p4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Decision Tree Terminology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152400" y="895350"/>
            <a:ext cx="51816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Root Node: </a:t>
            </a:r>
            <a:r>
              <a:rPr lang="en-US" sz="1800"/>
              <a:t>It represents entire population or sample and this further gets divided into two or more homogeneous sets.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Splitting: </a:t>
            </a:r>
            <a:r>
              <a:rPr lang="en-US" sz="1800"/>
              <a:t>It is a process of dividing a node into two or more sub-nodes.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Decision Node: </a:t>
            </a:r>
            <a:r>
              <a:rPr lang="en-US" sz="1800"/>
              <a:t>When a sub-node splits into further sub-nodes, then it is called decision node.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895350"/>
            <a:ext cx="3583737" cy="197347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 txBox="1"/>
          <p:nvPr/>
        </p:nvSpPr>
        <p:spPr>
          <a:xfrm>
            <a:off x="152400" y="2778025"/>
            <a:ext cx="8839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Leaf/ Terminal Node: 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with no children (no further split) is called Leaf or Terminal node.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Pruning: 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we reduce the size of decision trees by removing nodes (opposite of Splitting), the process is called pruning.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Branch / Sub-Tree: 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subsection of decision tree is called branch or sub-tree.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 and Child Node: 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node, which is divided into sub-nodes is called parent node, where sub-nodes are the child of parent node.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/>
        </p:nvSpPr>
        <p:spPr>
          <a:xfrm>
            <a:off x="228600" y="80799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Decision Tree  works?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 txBox="1"/>
          <p:nvPr>
            <p:ph idx="1" type="body"/>
          </p:nvPr>
        </p:nvSpPr>
        <p:spPr>
          <a:xfrm>
            <a:off x="304800" y="971550"/>
            <a:ext cx="85344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None/>
            </a:pPr>
            <a:r>
              <a:rPr lang="en-US" sz="2400"/>
              <a:t>Decision tree work on simple nested if else statement condition. Decision tree break the dataset into smaller and smaller subset while at the same time it create a decision tree and result determine by leaf nodes.</a:t>
            </a:r>
            <a:endParaRPr sz="2400"/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6650" y="2167101"/>
            <a:ext cx="516255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/>
          <p:nvPr/>
        </p:nvSpPr>
        <p:spPr>
          <a:xfrm>
            <a:off x="228600" y="80799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Decision Tree  works?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50849"/>
            <a:ext cx="6625079" cy="41188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7"/>
          <p:cNvSpPr txBox="1"/>
          <p:nvPr/>
        </p:nvSpPr>
        <p:spPr>
          <a:xfrm>
            <a:off x="37170" y="750849"/>
            <a:ext cx="47132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Let’s understand with examples:-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7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/>
        </p:nvSpPr>
        <p:spPr>
          <a:xfrm>
            <a:off x="228600" y="80799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Decision Tree  works?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9795" y="1003453"/>
            <a:ext cx="6873239" cy="386619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4"/>
          <p:cNvSpPr txBox="1"/>
          <p:nvPr/>
        </p:nvSpPr>
        <p:spPr>
          <a:xfrm>
            <a:off x="96644" y="743415"/>
            <a:ext cx="42746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Let’s see what is the probability of yes and no.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/>
        </p:nvSpPr>
        <p:spPr>
          <a:xfrm>
            <a:off x="228600" y="80799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Decision Tree  works?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075" y="798400"/>
            <a:ext cx="6998901" cy="39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8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/>
        </p:nvSpPr>
        <p:spPr>
          <a:xfrm>
            <a:off x="228600" y="80799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Decision Tree  works?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95550"/>
            <a:ext cx="4550749" cy="2542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9"/>
          <p:cNvPicPr preferRelativeResize="0"/>
          <p:nvPr/>
        </p:nvPicPr>
        <p:blipFill rotWithShape="1">
          <a:blip r:embed="rId4">
            <a:alphaModFix/>
          </a:blip>
          <a:srcRect b="10362" l="0" r="0" t="0"/>
          <a:stretch/>
        </p:blipFill>
        <p:spPr>
          <a:xfrm>
            <a:off x="4750420" y="795550"/>
            <a:ext cx="4393580" cy="233422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9"/>
          <p:cNvSpPr/>
          <p:nvPr/>
        </p:nvSpPr>
        <p:spPr>
          <a:xfrm>
            <a:off x="4206677" y="1749956"/>
            <a:ext cx="773151" cy="38657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9"/>
          <p:cNvPicPr preferRelativeResize="0"/>
          <p:nvPr/>
        </p:nvPicPr>
        <p:blipFill rotWithShape="1">
          <a:blip r:embed="rId4">
            <a:alphaModFix/>
          </a:blip>
          <a:srcRect b="0" l="0" r="0" t="89905"/>
          <a:stretch/>
        </p:blipFill>
        <p:spPr>
          <a:xfrm>
            <a:off x="37170" y="3796248"/>
            <a:ext cx="9106830" cy="40693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/>
        </p:nvSpPr>
        <p:spPr>
          <a:xfrm>
            <a:off x="37170" y="80799"/>
            <a:ext cx="592501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select the right feature?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713678"/>
            <a:ext cx="7567961" cy="417854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0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/>
        </p:nvSpPr>
        <p:spPr>
          <a:xfrm>
            <a:off x="26020" y="80799"/>
            <a:ext cx="67557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Gain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1"/>
          <p:cNvSpPr txBox="1"/>
          <p:nvPr/>
        </p:nvSpPr>
        <p:spPr>
          <a:xfrm>
            <a:off x="26020" y="713678"/>
            <a:ext cx="9117980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Information Gain: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Information Gain is used to determine which feature/attribute gives us the maximum information about a class.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Information Gain is based on the concept of entropy, which is the degree of uncertainty, impurity or disorder.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Information Gain aims to reduce the level of entropy starting from the root node to the leave nodes.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The greater the reduction in the uncertainty, the more information is gained about Y from X.</a:t>
            </a:r>
            <a:endParaRPr b="0" i="0" sz="2000" u="none" cap="none" strike="noStrike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1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/>
        </p:nvSpPr>
        <p:spPr>
          <a:xfrm>
            <a:off x="26020" y="80799"/>
            <a:ext cx="67557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Entropy and Information Gain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32"/>
          <p:cNvPicPr preferRelativeResize="0"/>
          <p:nvPr/>
        </p:nvPicPr>
        <p:blipFill rotWithShape="1">
          <a:blip r:embed="rId3">
            <a:alphaModFix/>
          </a:blip>
          <a:srcRect b="0" l="0" r="0" t="14694"/>
          <a:stretch/>
        </p:blipFill>
        <p:spPr>
          <a:xfrm>
            <a:off x="26020" y="713678"/>
            <a:ext cx="9117980" cy="415597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2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/>
        </p:nvSpPr>
        <p:spPr>
          <a:xfrm>
            <a:off x="26020" y="80799"/>
            <a:ext cx="67557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GINI INDEX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3"/>
          <p:cNvSpPr txBox="1"/>
          <p:nvPr/>
        </p:nvSpPr>
        <p:spPr>
          <a:xfrm>
            <a:off x="26020" y="669226"/>
            <a:ext cx="910683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GINI INDEX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             Gini index or Gini impurity measures the degree or probability of a particular variable.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e the source image" id="185" name="Google Shape;1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5515" y="1586865"/>
            <a:ext cx="42100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3"/>
          <p:cNvSpPr txBox="1"/>
          <p:nvPr/>
        </p:nvSpPr>
        <p:spPr>
          <a:xfrm>
            <a:off x="0" y="2649522"/>
            <a:ext cx="8969671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 records 🡪 2 yes, 2 No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Probability of +ve class = 2/4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Probability of –ve class = 2/4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Gini index = 1 – [ sq(p+) + sq(p-) ]            = 1 – [ sq(2/4) + sq(2/4) ]                = 0.50</a:t>
            </a:r>
            <a:endParaRPr/>
          </a:p>
        </p:txBody>
      </p:sp>
      <p:sp>
        <p:nvSpPr>
          <p:cNvPr id="187" name="Google Shape;187;p33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Pros of Decision Tree </a:t>
            </a:r>
            <a:endParaRPr/>
          </a:p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457200" y="895350"/>
            <a:ext cx="82296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•"/>
            </a:pPr>
            <a:r>
              <a:rPr lang="en-US" sz="1665"/>
              <a:t>Easy to Understand: Decision tree output is very easy to understand even for people from non-analytical background. It does not require any statistical knowledge to read and interpret them. 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65"/>
              <a:buChar char="•"/>
            </a:pPr>
            <a:r>
              <a:rPr lang="en-US" sz="1665"/>
              <a:t>Less data cleaning required: It requires less data cleaning compared to some other modeling techniques. It is not influenced by outliers and missing values to a fair degree.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65"/>
              <a:buChar char="•"/>
            </a:pPr>
            <a:r>
              <a:rPr lang="en-US" sz="1665"/>
              <a:t>Data type is not a constraint: It can handle both numerical and categorical variables.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65"/>
              <a:buChar char="•"/>
            </a:pPr>
            <a:r>
              <a:rPr lang="en-US" sz="1665"/>
              <a:t>Decision Tree Versatility : Decision trees can be customized for a variety for situations. 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Cons of Decision Tree </a:t>
            </a:r>
            <a:endParaRPr/>
          </a:p>
        </p:txBody>
      </p:sp>
      <p:sp>
        <p:nvSpPr>
          <p:cNvPr id="200" name="Google Shape;200;p9"/>
          <p:cNvSpPr txBox="1"/>
          <p:nvPr>
            <p:ph idx="1" type="body"/>
          </p:nvPr>
        </p:nvSpPr>
        <p:spPr>
          <a:xfrm>
            <a:off x="457200" y="819150"/>
            <a:ext cx="8229600" cy="3775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/>
              <a:t>Over fit : Over fitting is one of the most practical difficulty for decision tree models. </a:t>
            </a:r>
            <a:endParaRPr sz="2000"/>
          </a:p>
          <a:p>
            <a:pPr indent="-3429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/>
              <a:t>Low accuracy for continuous variables: While working with continuous numerical variables, decision tree loses information when it categorizes variables in different categories.</a:t>
            </a:r>
            <a:endParaRPr sz="2000"/>
          </a:p>
          <a:p>
            <a:pPr indent="-3429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/>
              <a:t>They are unstable, meaning that a small change in the data can lead to a large change in the structure of the optimal decision tree.</a:t>
            </a:r>
            <a:endParaRPr sz="2000"/>
          </a:p>
          <a:p>
            <a:pPr indent="-1905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000"/>
          </a:p>
          <a:p>
            <a:pPr indent="-1905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000"/>
          </a:p>
        </p:txBody>
      </p:sp>
      <p:sp>
        <p:nvSpPr>
          <p:cNvPr id="201" name="Google Shape;201;p9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Applications of  Decision Tree </a:t>
            </a:r>
            <a:endParaRPr/>
          </a:p>
        </p:txBody>
      </p:sp>
      <p:pic>
        <p:nvPicPr>
          <p:cNvPr id="207" name="Google Shape;2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27617"/>
            <a:ext cx="9143999" cy="414203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Modeling Decision Tree </a:t>
            </a:r>
            <a:endParaRPr/>
          </a:p>
        </p:txBody>
      </p:sp>
      <p:sp>
        <p:nvSpPr>
          <p:cNvPr id="214" name="Google Shape;214;p12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2400"/>
              <a:t>Decision Tree in action</a:t>
            </a:r>
            <a:endParaRPr sz="2400"/>
          </a:p>
        </p:txBody>
      </p:sp>
      <p:sp>
        <p:nvSpPr>
          <p:cNvPr id="215" name="Google Shape;215;p12"/>
          <p:cNvSpPr txBox="1"/>
          <p:nvPr/>
        </p:nvSpPr>
        <p:spPr>
          <a:xfrm>
            <a:off x="6831980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Ashok HOME</dc:creator>
</cp:coreProperties>
</file>