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hdmSzTtuXpBBmKM5RJDrkmB/7D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458200" y="4850606"/>
            <a:ext cx="533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14"/>
          <p:cNvSpPr/>
          <p:nvPr/>
        </p:nvSpPr>
        <p:spPr>
          <a:xfrm>
            <a:off x="0" y="666750"/>
            <a:ext cx="9144000" cy="45719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34200" y="116292"/>
            <a:ext cx="1981200" cy="512569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16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17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1" name="Google Shape;41;p17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17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2" name="Google Shape;52;p20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21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/>
          <p:nvPr/>
        </p:nvSpPr>
        <p:spPr>
          <a:xfrm>
            <a:off x="0" y="4888706"/>
            <a:ext cx="9144000" cy="254794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2"/>
          <p:cNvSpPr txBox="1"/>
          <p:nvPr/>
        </p:nvSpPr>
        <p:spPr>
          <a:xfrm>
            <a:off x="0" y="4869656"/>
            <a:ext cx="3886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2025  Skillogic ®</a:t>
            </a: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DataMites™. All Rights Reserved </a:t>
            </a:r>
            <a:endParaRPr b="1"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 with medium confidence" id="15" name="Google Shape;15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61225" y="4461024"/>
            <a:ext cx="1492200" cy="36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16" name="Google Shape;1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2461" y="4547049"/>
            <a:ext cx="1246906" cy="32259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Relationship Id="rId4" Type="http://schemas.openxmlformats.org/officeDocument/2006/relationships/image" Target="../media/image1.jpg"/><Relationship Id="rId5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 txBox="1"/>
          <p:nvPr>
            <p:ph type="title"/>
          </p:nvPr>
        </p:nvSpPr>
        <p:spPr>
          <a:xfrm>
            <a:off x="0" y="1931744"/>
            <a:ext cx="9144000" cy="1280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cap="none"/>
              <a:t>K-Means</a:t>
            </a:r>
            <a:endParaRPr b="0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"/>
          <p:cNvSpPr txBox="1"/>
          <p:nvPr/>
        </p:nvSpPr>
        <p:spPr>
          <a:xfrm>
            <a:off x="1429225" y="2683225"/>
            <a:ext cx="61776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Uns</a:t>
            </a:r>
            <a:r>
              <a:rPr lang="en-US" sz="2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upervised Machine Learning</a:t>
            </a:r>
            <a:endParaRPr sz="2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Clustering Algorithm</a:t>
            </a:r>
            <a:endParaRPr sz="2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"/>
          <p:cNvSpPr txBox="1"/>
          <p:nvPr/>
        </p:nvSpPr>
        <p:spPr>
          <a:xfrm>
            <a:off x="2053350" y="4686975"/>
            <a:ext cx="76071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© DataMites® and Skillogic</a:t>
            </a:r>
            <a:r>
              <a:rPr lang="en-US" sz="900">
                <a:solidFill>
                  <a:srgbClr val="000000"/>
                </a:solidFill>
              </a:rPr>
              <a:t>®</a:t>
            </a:r>
            <a:r>
              <a:rPr lang="en-US" sz="900"/>
              <a:t> are part of Skillfloor Solutions Private Limited. All rights reserved</a:t>
            </a:r>
            <a:endParaRPr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Course Topics</a:t>
            </a:r>
            <a:endParaRPr/>
          </a:p>
        </p:txBody>
      </p:sp>
      <p:sp>
        <p:nvSpPr>
          <p:cNvPr id="79" name="Google Shape;79;p2"/>
          <p:cNvSpPr txBox="1"/>
          <p:nvPr>
            <p:ph idx="1" type="body"/>
          </p:nvPr>
        </p:nvSpPr>
        <p:spPr>
          <a:xfrm>
            <a:off x="457200" y="1123950"/>
            <a:ext cx="85344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What is K-Means?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How the algorithm works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Pros and Cons </a:t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Applications</a:t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✔"/>
            </a:pPr>
            <a:r>
              <a:rPr lang="en-US" sz="2400"/>
              <a:t>Modeling kmeans</a:t>
            </a:r>
            <a:endParaRPr sz="2400"/>
          </a:p>
        </p:txBody>
      </p:sp>
      <p:sp>
        <p:nvSpPr>
          <p:cNvPr id="80" name="Google Shape;80;p2"/>
          <p:cNvSpPr txBox="1"/>
          <p:nvPr/>
        </p:nvSpPr>
        <p:spPr>
          <a:xfrm>
            <a:off x="6755780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What is K-Means ?</a:t>
            </a:r>
            <a:endParaRPr/>
          </a:p>
        </p:txBody>
      </p:sp>
      <p:sp>
        <p:nvSpPr>
          <p:cNvPr id="86" name="Google Shape;86;p3"/>
          <p:cNvSpPr txBox="1"/>
          <p:nvPr>
            <p:ph idx="1" type="body"/>
          </p:nvPr>
        </p:nvSpPr>
        <p:spPr>
          <a:xfrm>
            <a:off x="228600" y="895350"/>
            <a:ext cx="6831977" cy="3699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i="1" lang="en-US" sz="1800"/>
              <a:t>K</a:t>
            </a:r>
            <a:r>
              <a:rPr lang="en-US" sz="1800"/>
              <a:t>-means is a type of unsupervised machine learning algorithm</a:t>
            </a:r>
            <a:endParaRPr sz="1800"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/>
              <a:t>Used for clustering unlabelled data</a:t>
            </a:r>
            <a:endParaRPr sz="1800"/>
          </a:p>
          <a:p>
            <a:pPr indent="-342900" lvl="0" marL="3429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/>
              <a:t>Looks to find groups in the data by minimize the distance between the data points and their respective cluster centroid, with the number of groups represented by the variable </a:t>
            </a:r>
            <a:r>
              <a:rPr i="1" lang="en-US" sz="1800"/>
              <a:t>K</a:t>
            </a:r>
            <a:r>
              <a:rPr lang="en-US" sz="1800"/>
              <a:t>. </a:t>
            </a:r>
            <a:endParaRPr sz="1800"/>
          </a:p>
          <a:p>
            <a:pPr indent="-342900" lvl="0" marL="3429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/>
              <a:t>The algorithm works iteratively to assign each data point to one of </a:t>
            </a:r>
            <a:r>
              <a:rPr i="1" lang="en-US" sz="1800"/>
              <a:t>K</a:t>
            </a:r>
            <a:r>
              <a:rPr lang="en-US" sz="1800"/>
              <a:t> groups based on the features that are provided. </a:t>
            </a:r>
            <a:endParaRPr sz="1800"/>
          </a:p>
          <a:p>
            <a:pPr indent="-342900" lvl="0" marL="3429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/>
              <a:t>Data points are clustered based on feature similarity.</a:t>
            </a:r>
            <a:endParaRPr/>
          </a:p>
        </p:txBody>
      </p:sp>
      <p:pic>
        <p:nvPicPr>
          <p:cNvPr id="87" name="Google Shape;87;p3"/>
          <p:cNvPicPr preferRelativeResize="0"/>
          <p:nvPr/>
        </p:nvPicPr>
        <p:blipFill rotWithShape="1">
          <a:blip r:embed="rId3">
            <a:alphaModFix/>
          </a:blip>
          <a:srcRect b="11328" l="4064" r="59431" t="6796"/>
          <a:stretch/>
        </p:blipFill>
        <p:spPr>
          <a:xfrm>
            <a:off x="7060579" y="728546"/>
            <a:ext cx="2083421" cy="205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3"/>
          <p:cNvPicPr preferRelativeResize="0"/>
          <p:nvPr/>
        </p:nvPicPr>
        <p:blipFill rotWithShape="1">
          <a:blip r:embed="rId3">
            <a:alphaModFix/>
          </a:blip>
          <a:srcRect b="7481" l="59999" r="3739" t="7184"/>
          <a:stretch/>
        </p:blipFill>
        <p:spPr>
          <a:xfrm>
            <a:off x="7060579" y="2780371"/>
            <a:ext cx="2083422" cy="2108887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"/>
          <p:cNvSpPr txBox="1"/>
          <p:nvPr/>
        </p:nvSpPr>
        <p:spPr>
          <a:xfrm>
            <a:off x="6755780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 txBox="1"/>
          <p:nvPr/>
        </p:nvSpPr>
        <p:spPr>
          <a:xfrm>
            <a:off x="228600" y="80799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K-Means 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 txBox="1"/>
          <p:nvPr>
            <p:ph idx="1" type="body"/>
          </p:nvPr>
        </p:nvSpPr>
        <p:spPr>
          <a:xfrm>
            <a:off x="304800" y="1123951"/>
            <a:ext cx="62634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94030" lvl="0" marL="514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i="0" lang="en-US" sz="2000">
                <a:solidFill>
                  <a:srgbClr val="0D0D0D"/>
                </a:solidFill>
              </a:rPr>
              <a:t>Initialize no. of clusters (K).</a:t>
            </a:r>
            <a:endParaRPr i="0" sz="2000">
              <a:solidFill>
                <a:srgbClr val="0D0D0D"/>
              </a:solidFill>
            </a:endParaRPr>
          </a:p>
          <a:p>
            <a:pPr indent="-494030" lvl="0" marL="514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000"/>
              <a:t>Randomly assign k no. of centroids into a dataset.</a:t>
            </a:r>
            <a:endParaRPr/>
          </a:p>
          <a:p>
            <a:pPr indent="-494030" lvl="0" marL="514350" rtl="0" algn="l">
              <a:lnSpc>
                <a:spcPct val="115000"/>
              </a:lnSpc>
              <a:spcBef>
                <a:spcPts val="544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US" sz="2000"/>
              <a:t>Calculate the distance between each datapoint to all the centroids. Assign the datapoints to the nearest centroid so as to form k clusters.</a:t>
            </a:r>
            <a:endParaRPr sz="2000"/>
          </a:p>
          <a:p>
            <a:pPr indent="-468630" lvl="0" marL="514350" rtl="0" algn="l">
              <a:lnSpc>
                <a:spcPct val="115000"/>
              </a:lnSpc>
              <a:spcBef>
                <a:spcPts val="544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Compute the new centroids of each cluster based on the data it contains, shifting from the older centroids.</a:t>
            </a:r>
            <a:endParaRPr sz="2000"/>
          </a:p>
          <a:p>
            <a:pPr indent="-494030" lvl="0" marL="514350" rtl="0" algn="l">
              <a:lnSpc>
                <a:spcPct val="115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000"/>
              <a:t>Repeat steps 3 and 4 until the mean doesn't change.</a:t>
            </a:r>
            <a:endParaRPr sz="2000"/>
          </a:p>
        </p:txBody>
      </p:sp>
      <p:pic>
        <p:nvPicPr>
          <p:cNvPr id="96" name="Google Shape;96;p4"/>
          <p:cNvPicPr preferRelativeResize="0"/>
          <p:nvPr/>
        </p:nvPicPr>
        <p:blipFill rotWithShape="1">
          <a:blip r:embed="rId3">
            <a:alphaModFix/>
          </a:blip>
          <a:srcRect b="1529" l="5395" r="1763" t="2429"/>
          <a:stretch/>
        </p:blipFill>
        <p:spPr>
          <a:xfrm>
            <a:off x="6608956" y="732104"/>
            <a:ext cx="2535044" cy="413754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 txBox="1"/>
          <p:nvPr/>
        </p:nvSpPr>
        <p:spPr>
          <a:xfrm>
            <a:off x="6755780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/>
        </p:nvSpPr>
        <p:spPr>
          <a:xfrm>
            <a:off x="228600" y="80799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K-Means  works?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39680" l="9023" r="52467" t="17960"/>
          <a:stretch/>
        </p:blipFill>
        <p:spPr>
          <a:xfrm>
            <a:off x="2788920" y="753324"/>
            <a:ext cx="29718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9024" r="45555" t="60320"/>
          <a:stretch/>
        </p:blipFill>
        <p:spPr>
          <a:xfrm>
            <a:off x="914400" y="2876550"/>
            <a:ext cx="3505200" cy="192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5"/>
          <p:cNvPicPr preferRelativeResize="0"/>
          <p:nvPr/>
        </p:nvPicPr>
        <p:blipFill rotWithShape="1">
          <a:blip r:embed="rId3">
            <a:alphaModFix/>
          </a:blip>
          <a:srcRect b="39680" l="49505" r="9022" t="17960"/>
          <a:stretch/>
        </p:blipFill>
        <p:spPr>
          <a:xfrm>
            <a:off x="5791200" y="849762"/>
            <a:ext cx="32004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5"/>
          <p:cNvPicPr preferRelativeResize="0"/>
          <p:nvPr/>
        </p:nvPicPr>
        <p:blipFill rotWithShape="1">
          <a:blip r:embed="rId3">
            <a:alphaModFix/>
          </a:blip>
          <a:srcRect b="0" l="54443" r="9023" t="60320"/>
          <a:stretch/>
        </p:blipFill>
        <p:spPr>
          <a:xfrm>
            <a:off x="4419600" y="2876550"/>
            <a:ext cx="2819400" cy="192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051" y="895350"/>
            <a:ext cx="2756829" cy="206046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5"/>
          <p:cNvSpPr txBox="1"/>
          <p:nvPr/>
        </p:nvSpPr>
        <p:spPr>
          <a:xfrm>
            <a:off x="6755780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Pros of K-Means </a:t>
            </a:r>
            <a:endParaRPr/>
          </a:p>
        </p:txBody>
      </p:sp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457200" y="895350"/>
            <a:ext cx="82296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Practically work well even if some assumptions are broken.</a:t>
            </a:r>
            <a:endParaRPr sz="2000"/>
          </a:p>
          <a:p>
            <a:pPr indent="-31750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Simple, easy to implement.</a:t>
            </a:r>
            <a:endParaRPr sz="2000"/>
          </a:p>
          <a:p>
            <a:pPr indent="-31750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Easy to interpret the clustering results.</a:t>
            </a:r>
            <a:endParaRPr sz="2000"/>
          </a:p>
          <a:p>
            <a:pPr indent="-31750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Fast and efficient in terms of computational cost.</a:t>
            </a:r>
            <a:endParaRPr sz="2000"/>
          </a:p>
          <a:p>
            <a:pPr indent="-228600" lvl="0" marL="3429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000"/>
          </a:p>
        </p:txBody>
      </p:sp>
      <p:pic>
        <p:nvPicPr>
          <p:cNvPr id="115" name="Google Shape;1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839012"/>
            <a:ext cx="4376621" cy="205024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 txBox="1"/>
          <p:nvPr/>
        </p:nvSpPr>
        <p:spPr>
          <a:xfrm>
            <a:off x="6755780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Cons of K-Means </a:t>
            </a:r>
            <a:endParaRPr/>
          </a:p>
        </p:txBody>
      </p:sp>
      <p:sp>
        <p:nvSpPr>
          <p:cNvPr id="122" name="Google Shape;122;p7"/>
          <p:cNvSpPr txBox="1"/>
          <p:nvPr>
            <p:ph idx="1" type="body"/>
          </p:nvPr>
        </p:nvSpPr>
        <p:spPr>
          <a:xfrm>
            <a:off x="457200" y="819150"/>
            <a:ext cx="82296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02558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647"/>
              <a:buChar char="•"/>
            </a:pPr>
            <a:r>
              <a:rPr b="1" lang="en-US" sz="2400"/>
              <a:t>Uniform effect: </a:t>
            </a:r>
            <a:r>
              <a:rPr lang="en-US" sz="2400"/>
              <a:t>often produce clusters with relatively uniform size even if the input data have different cluster size.</a:t>
            </a:r>
            <a:endParaRPr/>
          </a:p>
          <a:p>
            <a:pPr indent="-302558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ct val="117647"/>
              <a:buChar char="•"/>
            </a:pPr>
            <a:r>
              <a:rPr b="1" lang="en-US" sz="2400"/>
              <a:t>Different densities: </a:t>
            </a:r>
            <a:r>
              <a:rPr lang="en-US" sz="2400"/>
              <a:t>may work poorly with clusters with different densities but spherical shape.</a:t>
            </a:r>
            <a:endParaRPr/>
          </a:p>
          <a:p>
            <a:pPr indent="-302558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ct val="117647"/>
              <a:buChar char="•"/>
            </a:pPr>
            <a:r>
              <a:rPr lang="en-US" sz="2400"/>
              <a:t>Sensitive to outliers</a:t>
            </a:r>
            <a:endParaRPr/>
          </a:p>
          <a:p>
            <a:pPr indent="-302558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ct val="117647"/>
              <a:buChar char="•"/>
            </a:pPr>
            <a:r>
              <a:rPr lang="en-US" sz="2400"/>
              <a:t>K value needs to be known before K-means clustering</a:t>
            </a:r>
            <a:endParaRPr/>
          </a:p>
        </p:txBody>
      </p:sp>
      <p:pic>
        <p:nvPicPr>
          <p:cNvPr id="123" name="Google Shape;1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2750" y="2633840"/>
            <a:ext cx="5734050" cy="206669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 txBox="1"/>
          <p:nvPr/>
        </p:nvSpPr>
        <p:spPr>
          <a:xfrm>
            <a:off x="6755780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Applications of  K-Means </a:t>
            </a:r>
            <a:endParaRPr/>
          </a:p>
        </p:txBody>
      </p:sp>
      <p:sp>
        <p:nvSpPr>
          <p:cNvPr id="130" name="Google Shape;130;p8"/>
          <p:cNvSpPr txBox="1"/>
          <p:nvPr>
            <p:ph idx="1" type="body"/>
          </p:nvPr>
        </p:nvSpPr>
        <p:spPr>
          <a:xfrm>
            <a:off x="457200" y="895350"/>
            <a:ext cx="5632800" cy="3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/>
              <a:t>Market segmentation</a:t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/>
              <a:t>Computer vision</a:t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/>
              <a:t>Agriculture</a:t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/>
              <a:t>Feature learning</a:t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i="0" lang="en-US" sz="2400">
                <a:solidFill>
                  <a:srgbClr val="0D0D0D"/>
                </a:solidFill>
              </a:rPr>
              <a:t>Recommendation Systems</a:t>
            </a:r>
            <a:endParaRPr sz="2400"/>
          </a:p>
        </p:txBody>
      </p:sp>
      <p:pic>
        <p:nvPicPr>
          <p:cNvPr id="131" name="Google Shape;1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1725" y="714840"/>
            <a:ext cx="2962275" cy="126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1725" y="1982864"/>
            <a:ext cx="2962275" cy="1399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1725" y="3398975"/>
            <a:ext cx="2962275" cy="150672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8"/>
          <p:cNvSpPr txBox="1"/>
          <p:nvPr/>
        </p:nvSpPr>
        <p:spPr>
          <a:xfrm>
            <a:off x="6755780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Modeling K-Means </a:t>
            </a:r>
            <a:endParaRPr/>
          </a:p>
        </p:txBody>
      </p:sp>
      <p:sp>
        <p:nvSpPr>
          <p:cNvPr id="140" name="Google Shape;140;p9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Clustering in action</a:t>
            </a:r>
            <a:endParaRPr/>
          </a:p>
        </p:txBody>
      </p:sp>
      <p:sp>
        <p:nvSpPr>
          <p:cNvPr id="141" name="Google Shape;141;p9"/>
          <p:cNvSpPr txBox="1"/>
          <p:nvPr/>
        </p:nvSpPr>
        <p:spPr>
          <a:xfrm>
            <a:off x="6755780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Ashok HOME</dc:creator>
</cp:coreProperties>
</file>